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46888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Analizador léxico con JFlex</a:t>
            </a:r>
            <a:endParaRPr lang="en-US" sz="3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4688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Primera entrega del TP Integrador – Compilador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Grupo 2 · Tema especial: PRINCIPIO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Teoría de la Computación I – UNLu –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Ausqui · Obregón · Peterson · Rigacci · González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Objetivo y qué entregamos</a:t>
            </a:r>
            <a:endParaRPr lang="en-US" sz="2600" dirty="0"/>
          </a:p>
        </p:txBody>
      </p:sp>
      <p:sp>
        <p:nvSpPr>
          <p:cNvPr id="3" name="card Objetivo"/>
          <p:cNvSpPr/>
          <p:nvPr/>
        </p:nvSpPr>
        <p:spPr>
          <a:xfrm>
            <a:off x="457200" y="1143000"/>
            <a:ext cx="4023360" cy="3474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73152" cy="34747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1615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Objetivo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00200"/>
            <a:ext cx="373075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Reconocer los componentes léxicos del lenguaje del TP con JFlex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IDE gráfico (Swing) para escribir o cargar código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Mostrar tokens reconocidos o el error léxico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Armar la tabla de símbolos con variables y constantes</a:t>
            </a:r>
            <a:endParaRPr lang="en-US" sz="1100" dirty="0"/>
          </a:p>
        </p:txBody>
      </p:sp>
      <p:sp>
        <p:nvSpPr>
          <p:cNvPr id="7" name="card Material entregado"/>
          <p:cNvSpPr/>
          <p:nvPr/>
        </p:nvSpPr>
        <p:spPr>
          <a:xfrm>
            <a:off x="4663440" y="1143000"/>
            <a:ext cx="4023360" cy="3474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73152" cy="347472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21615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Material entregado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1600200"/>
            <a:ext cx="373075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Lexico.flex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prueba.txt (general + PRINCIPIO)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ts.txt (tabla de símbolos)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Código fuente en Git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Compilador.jar ejecutable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Pruebas de error en pruebas_errores/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Cómo está armado el proyecto</a:t>
            </a:r>
            <a:endParaRPr lang="en-US" sz="2600" dirty="0"/>
          </a:p>
        </p:txBody>
      </p:sp>
      <p:sp>
        <p:nvSpPr>
          <p:cNvPr id="3" name="caja Ventana"/>
          <p:cNvSpPr/>
          <p:nvPr/>
        </p:nvSpPr>
        <p:spPr>
          <a:xfrm>
            <a:off x="457200" y="1280160"/>
            <a:ext cx="1828800" cy="1188720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Ventana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Editor + botones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Abrir / Compilar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600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caja Analizador"/>
          <p:cNvSpPr/>
          <p:nvPr/>
        </p:nvSpPr>
        <p:spPr>
          <a:xfrm>
            <a:off x="2606040" y="1280160"/>
            <a:ext cx="1828800" cy="1188720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80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Analizador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Recorre el texto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y junta la salida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600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caja Lexico"/>
          <p:cNvSpPr/>
          <p:nvPr/>
        </p:nvSpPr>
        <p:spPr>
          <a:xfrm>
            <a:off x="4754880" y="1280160"/>
            <a:ext cx="1828800" cy="11887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80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Lexico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Generado por JFlex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desde Lexico.flex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600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caja Salida"/>
          <p:cNvSpPr/>
          <p:nvPr/>
        </p:nvSpPr>
        <p:spPr>
          <a:xfrm>
            <a:off x="6903720" y="1280160"/>
            <a:ext cx="1828800" cy="1188720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80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Salida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Tokens, errores,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ts.txt</a:t>
            </a:r>
            <a:endParaRPr lang="en-US" sz="1600" dirty="0"/>
          </a:p>
        </p:txBody>
      </p:sp>
      <p:sp>
        <p:nvSpPr>
          <p:cNvPr id="14" name="card Clases principales"/>
          <p:cNvSpPr/>
          <p:nvPr/>
        </p:nvSpPr>
        <p:spPr>
          <a:xfrm>
            <a:off x="457200" y="2834640"/>
            <a:ext cx="4023360" cy="178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73152" cy="178308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90779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Clases principales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291840"/>
            <a:ext cx="37307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Token: nombre, lexema, línea, columna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ErrorLexico: mensaje + posición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TablaSimbolos: guarda y genera ts.txt</a:t>
            </a:r>
            <a:endParaRPr lang="en-US" sz="1100" dirty="0"/>
          </a:p>
        </p:txBody>
      </p:sp>
      <p:sp>
        <p:nvSpPr>
          <p:cNvPr id="18" name="card Flujo"/>
          <p:cNvSpPr/>
          <p:nvPr/>
        </p:nvSpPr>
        <p:spPr>
          <a:xfrm>
            <a:off x="4663440" y="2834640"/>
            <a:ext cx="4023360" cy="17830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34640"/>
            <a:ext cx="73152" cy="178308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4608" y="290779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Flujo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3291840"/>
            <a:ext cx="37307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 lee el texto del editor (no solo archivos)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Lexico.next_token() devuelve un token por vez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Al terminar sin errores se escribe ts.txt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Qué reconoce el analizador</a:t>
            </a:r>
            <a:endParaRPr lang="en-US" sz="2600" dirty="0"/>
          </a:p>
        </p:txBody>
      </p:sp>
      <p:sp>
        <p:nvSpPr>
          <p:cNvPr id="3" name="card Palabras reservadas"/>
          <p:cNvSpPr/>
          <p:nvPr/>
        </p:nvSpPr>
        <p:spPr>
          <a:xfrm>
            <a:off x="457200" y="1097280"/>
            <a:ext cx="2651760" cy="35661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56616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Palabras reservadas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54480"/>
            <a:ext cx="235915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DECLARE.SECTION / ENDDECLARE.SECTION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PROGRAM.SECTION / ENDPROGRAM.SECTION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IF, THEN, ELSE, ENDIF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WHILE, ENDWHILE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WRITE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FLOAT, INT, STRING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AND, 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PRINCIPIO</a:t>
            </a:r>
            <a:endParaRPr lang="en-US" sz="1100" dirty="0"/>
          </a:p>
        </p:txBody>
      </p:sp>
      <p:sp>
        <p:nvSpPr>
          <p:cNvPr id="7" name="card Símbolos y operadores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97280"/>
            <a:ext cx="73152" cy="356616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1704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Símbolos y operadores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54480"/>
            <a:ext cx="235915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::= asignación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:= declaración de tipos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, . ; ( ) [ ] { }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&gt;= &lt;= &gt; &lt; == !=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+ - * /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existe "=" suelto</a:t>
            </a:r>
            <a:endParaRPr lang="en-US" sz="1100" dirty="0"/>
          </a:p>
        </p:txBody>
      </p:sp>
      <p:sp>
        <p:nvSpPr>
          <p:cNvPr id="11" name="card Identificadores y constantes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73152" cy="356616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1704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Identificadores y constantes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554480"/>
            <a:ext cx="235915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ID: letra seguida de letras o dígitos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CTE_E: entero 0..32767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CTE_F: 99.99  99.  .9999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CTE_STR: hasta 30 caracteres entre comillas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Comentarios //* … *// con un nivel de anidado: se ignoran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Validaciones y decisiones</a:t>
            </a:r>
            <a:endParaRPr lang="en-US" sz="2600" dirty="0"/>
          </a:p>
        </p:txBody>
      </p:sp>
      <p:sp>
        <p:nvSpPr>
          <p:cNvPr id="3" name="card Enteros (16 bits)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Enteros (16 bits)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54480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Rango 0..32767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Fuera de rango: error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Negativos: operador - más constante</a:t>
            </a:r>
            <a:endParaRPr lang="en-US" sz="1100" dirty="0"/>
          </a:p>
        </p:txBody>
      </p:sp>
      <p:sp>
        <p:nvSpPr>
          <p:cNvPr id="7" name="card Reales (32 bits)"/>
          <p:cNvSpPr/>
          <p:nvPr/>
        </p:nvSpPr>
        <p:spPr>
          <a:xfrm>
            <a:off x="3246120" y="1097280"/>
            <a:ext cx="265176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97280"/>
            <a:ext cx="73152" cy="164592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1704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Reales (32 bits)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54480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Deben entrar en un float de Java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 aceptan 99.99, 99. y .9999</a:t>
            </a:r>
            <a:endParaRPr lang="en-US" sz="1100" dirty="0"/>
          </a:p>
        </p:txBody>
      </p:sp>
      <p:sp>
        <p:nvSpPr>
          <p:cNvPr id="11" name="card Strings"/>
          <p:cNvSpPr/>
          <p:nvPr/>
        </p:nvSpPr>
        <p:spPr>
          <a:xfrm>
            <a:off x="6035040" y="1097280"/>
            <a:ext cx="265176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73152" cy="16459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1704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Strings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554480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Máximo 30 caracteres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Valor sin comillas en la tabla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Incluye @ y %</a:t>
            </a:r>
            <a:endParaRPr lang="en-US" sz="1100" dirty="0"/>
          </a:p>
        </p:txBody>
      </p:sp>
      <p:sp>
        <p:nvSpPr>
          <p:cNvPr id="15" name="card Comentarios"/>
          <p:cNvSpPr/>
          <p:nvPr/>
        </p:nvSpPr>
        <p:spPr>
          <a:xfrm>
            <a:off x="457200" y="2971800"/>
            <a:ext cx="265176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6459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449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Comentarios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429000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 solo nivel de anidado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Sin cerrar o 3 niveles: error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generan token ni salida</a:t>
            </a:r>
            <a:endParaRPr lang="en-US" sz="1100" dirty="0"/>
          </a:p>
        </p:txBody>
      </p:sp>
      <p:sp>
        <p:nvSpPr>
          <p:cNvPr id="19" name="card Errores léxicos"/>
          <p:cNvSpPr/>
          <p:nvPr/>
        </p:nvSpPr>
        <p:spPr>
          <a:xfrm>
            <a:off x="3246120" y="2971800"/>
            <a:ext cx="265176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971800"/>
            <a:ext cx="73152" cy="16459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47288" y="30449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Errores léxicos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429000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 informa línea y columna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análisis se corta en el primer error</a:t>
            </a:r>
            <a:endParaRPr lang="en-US" sz="1100" dirty="0"/>
          </a:p>
        </p:txBody>
      </p:sp>
      <p:sp>
        <p:nvSpPr>
          <p:cNvPr id="23" name="card Tabla de símbolos"/>
          <p:cNvSpPr/>
          <p:nvPr/>
        </p:nvSpPr>
        <p:spPr>
          <a:xfrm>
            <a:off x="6035040" y="2971800"/>
            <a:ext cx="265176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971800"/>
            <a:ext cx="73152" cy="164592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30449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Tabla de símbolos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429000"/>
            <a:ext cx="23591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ID: sin valor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Constantes: nombre _valor, con valor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CTE_STR: también longitud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Tema especial: PRINCIPIO</a:t>
            </a:r>
            <a:endParaRPr lang="en-US" sz="2600" dirty="0"/>
          </a:p>
        </p:txBody>
      </p:sp>
      <p:sp>
        <p:nvSpPr>
          <p:cNvPr id="3" name="card Qué hace la sentencia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Qué hace la sentencia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54480"/>
            <a:ext cx="3730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Suma las primeras N constantes de una lista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 es el pivot y la lista es de constantes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El resultado se asigna a un identificador</a:t>
            </a:r>
            <a:endParaRPr lang="en-US" sz="1100" dirty="0"/>
          </a:p>
        </p:txBody>
      </p:sp>
      <p:sp>
        <p:nvSpPr>
          <p:cNvPr id="7" name="ejemplo codigo"/>
          <p:cNvSpPr/>
          <p:nvPr/>
        </p:nvSpPr>
        <p:spPr>
          <a:xfrm>
            <a:off x="457200" y="2743200"/>
            <a:ext cx="4023360" cy="1874520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Formato y ejemplo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::= PRINCIPIO(cte_entera; [lista])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 ::= PRINCIPIO(4;[10,20,30,40,5,4])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//* La suma es: 100 *//</a:t>
            </a:r>
            <a:endParaRPr lang="en-US" sz="1200" dirty="0"/>
          </a:p>
        </p:txBody>
      </p:sp>
      <p:sp>
        <p:nvSpPr>
          <p:cNvPr id="9" name="card Tokens que genera el léxico"/>
          <p:cNvSpPr/>
          <p:nvPr/>
        </p:nvSpPr>
        <p:spPr>
          <a:xfrm>
            <a:off x="4663440" y="1097280"/>
            <a:ext cx="4023360" cy="17373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173736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17043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Tokens que genera el léxico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554480"/>
            <a:ext cx="37307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ID  ASIGNACION  PRINCIPIO  PAR_A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CTE_E  PUNTO_Y_COMA  COR_A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CTE_E  COMA  CTE_E …  COR_C  PAR_C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La lista vacía [] da COR_A y COR_C</a:t>
            </a:r>
            <a:endParaRPr lang="en-US" sz="1100" dirty="0"/>
          </a:p>
        </p:txBody>
      </p:sp>
      <p:sp>
        <p:nvSpPr>
          <p:cNvPr id="13" name="card Qué queda para la 2ª entrega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017520"/>
            <a:ext cx="73152" cy="160020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309067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Qué queda para la 2ª entrega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474720"/>
            <a:ext cx="37307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Pivot mayor o igual a 1 y pivot menor o igual al largo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Mensajes "La lista está vacía" y "La lista no tiene suficientes elementos"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 validan en el sintáctico, no en el léxico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Demo con prueba.txt y cierre</a:t>
            </a:r>
            <a:endParaRPr lang="en-US" sz="2600" dirty="0"/>
          </a:p>
        </p:txBody>
      </p:sp>
      <p:sp>
        <p:nvSpPr>
          <p:cNvPr id="3" name="card prueba.txt cubre"/>
          <p:cNvSpPr/>
          <p:nvPr/>
        </p:nvSpPr>
        <p:spPr>
          <a:xfrm>
            <a:off x="457200" y="1097280"/>
            <a:ext cx="4023360" cy="35204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52044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prueba.txt cubre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54480"/>
            <a:ext cx="37307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Secciones DECLARE y PROGRAM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Asignaciones: entero, real y string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WHILE … ENDWHILE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IF … THEN … ELSE … ENDIF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Condiciones con AND y 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WRITE de string, constante y variable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PRINCIPIO: los 5 ejemplos del enunciado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Comentarios, incluido uno anidado</a:t>
            </a:r>
            <a:endParaRPr lang="en-US" sz="1100" dirty="0"/>
          </a:p>
        </p:txBody>
      </p:sp>
      <p:sp>
        <p:nvSpPr>
          <p:cNvPr id="7" name="card Pasos de la demo"/>
          <p:cNvSpPr/>
          <p:nvPr/>
        </p:nvSpPr>
        <p:spPr>
          <a:xfrm>
            <a:off x="4663440" y="1097280"/>
            <a:ext cx="4023360" cy="21488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214884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17043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Pasos de la demo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1554480"/>
            <a:ext cx="373075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Abrir prueba.txt y compilar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Mostrar tokens y pestaña de tabla de símbolos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Abrir ts.txt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Provocar un error (ej: 32768) y ver línea y columna</a:t>
            </a:r>
            <a:endParaRPr lang="en-US" sz="1100" dirty="0"/>
          </a:p>
        </p:txBody>
      </p:sp>
      <p:sp>
        <p:nvSpPr>
          <p:cNvPr id="11" name="card Próximo paso"/>
          <p:cNvSpPr/>
          <p:nvPr/>
        </p:nvSpPr>
        <p:spPr>
          <a:xfrm>
            <a:off x="4663440" y="3429000"/>
            <a:ext cx="4023360" cy="1188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429000"/>
            <a:ext cx="73152" cy="11887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350215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Próximo paso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88620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Analizador sintáctico con Java CUP (entrega 23/11)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upo2">
  <a:themeElements>
    <a:clrScheme name="Grupo2">
      <a:dk1>
        <a:srgbClr val="1B2434"/>
      </a:dk1>
      <a:lt1>
        <a:srgbClr val="FFFFFF"/>
      </a:lt1>
      <a:dk2>
        <a:srgbClr val="264653"/>
      </a:dk2>
      <a:lt2>
        <a:srgbClr val="F3F5F7"/>
      </a:lt2>
      <a:accent1>
        <a:srgbClr val="2A9D8F"/>
      </a:accent1>
      <a:accent2>
        <a:srgbClr val="E9C46A"/>
      </a:accent2>
      <a:accent3>
        <a:srgbClr val="E76F51"/>
      </a:accent3>
      <a:accent4>
        <a:srgbClr val="264653"/>
      </a:accent4>
      <a:accent5>
        <a:srgbClr val="8AB17D"/>
      </a:accent5>
      <a:accent6>
        <a:srgbClr val="6C757D"/>
      </a:accent6>
      <a:hlink>
        <a:srgbClr val="2A9D8F"/>
      </a:hlink>
      <a:folHlink>
        <a:srgbClr val="6C757D"/>
      </a:folHlink>
    </a:clrScheme>
    <a:fontScheme name="Grupo2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Analizador Lexico - Grupo 2 - PRINCIPIO</dc:title>
  <dc:subject>PptxGenJS Presentation</dc:subject>
  <dc:creator>PptxGenJS</dc:creator>
  <cp:lastModifiedBy>PptxGenJS</cp:lastModifiedBy>
  <cp:revision>1</cp:revision>
  <dcterms:created xsi:type="dcterms:W3CDTF">2026-10-07T19:19:39Z</dcterms:created>
  <dcterms:modified xsi:type="dcterms:W3CDTF">2026-10-07T19:19:39Z</dcterms:modified>
</cp:coreProperties>
</file>